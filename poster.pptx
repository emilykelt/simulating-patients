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sldIdLst>
    <p:sldId id="257"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D7CB"/>
    <a:srgbClr val="5F758E"/>
    <a:srgbClr val="3B1E2B"/>
    <a:srgbClr val="373961"/>
    <a:srgbClr val="C6132A"/>
    <a:srgbClr val="DBDE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32"/>
    <p:restoredTop sz="94638"/>
  </p:normalViewPr>
  <p:slideViewPr>
    <p:cSldViewPr snapToGrid="0">
      <p:cViewPr>
        <p:scale>
          <a:sx n="29" d="100"/>
          <a:sy n="29" d="100"/>
        </p:scale>
        <p:origin x="2432"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GB"/>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5B44A3A-EC99-3E4C-A6A2-1D8115A172E2}"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78532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B44A3A-EC99-3E4C-A6A2-1D8115A172E2}"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639263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GB"/>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tint val="82000"/>
                  </a:schemeClr>
                </a:solidFill>
              </a:defRPr>
            </a:lvl1pPr>
            <a:lvl2pPr marL="1069162" indent="0">
              <a:buNone/>
              <a:defRPr sz="4677">
                <a:solidFill>
                  <a:schemeClr val="tx1">
                    <a:tint val="82000"/>
                  </a:schemeClr>
                </a:solidFill>
              </a:defRPr>
            </a:lvl2pPr>
            <a:lvl3pPr marL="2138324" indent="0">
              <a:buNone/>
              <a:defRPr sz="4209">
                <a:solidFill>
                  <a:schemeClr val="tx1">
                    <a:tint val="82000"/>
                  </a:schemeClr>
                </a:solidFill>
              </a:defRPr>
            </a:lvl3pPr>
            <a:lvl4pPr marL="3207487" indent="0">
              <a:buNone/>
              <a:defRPr sz="3742">
                <a:solidFill>
                  <a:schemeClr val="tx1">
                    <a:tint val="82000"/>
                  </a:schemeClr>
                </a:solidFill>
              </a:defRPr>
            </a:lvl4pPr>
            <a:lvl5pPr marL="4276649" indent="0">
              <a:buNone/>
              <a:defRPr sz="3742">
                <a:solidFill>
                  <a:schemeClr val="tx1">
                    <a:tint val="82000"/>
                  </a:schemeClr>
                </a:solidFill>
              </a:defRPr>
            </a:lvl5pPr>
            <a:lvl6pPr marL="5345811" indent="0">
              <a:buNone/>
              <a:defRPr sz="3742">
                <a:solidFill>
                  <a:schemeClr val="tx1">
                    <a:tint val="82000"/>
                  </a:schemeClr>
                </a:solidFill>
              </a:defRPr>
            </a:lvl6pPr>
            <a:lvl7pPr marL="6414973" indent="0">
              <a:buNone/>
              <a:defRPr sz="3742">
                <a:solidFill>
                  <a:schemeClr val="tx1">
                    <a:tint val="82000"/>
                  </a:schemeClr>
                </a:solidFill>
              </a:defRPr>
            </a:lvl7pPr>
            <a:lvl8pPr marL="7484135" indent="0">
              <a:buNone/>
              <a:defRPr sz="3742">
                <a:solidFill>
                  <a:schemeClr val="tx1">
                    <a:tint val="82000"/>
                  </a:schemeClr>
                </a:solidFill>
              </a:defRPr>
            </a:lvl8pPr>
            <a:lvl9pPr marL="8553298" indent="0">
              <a:buNone/>
              <a:defRPr sz="3742">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B44A3A-EC99-3E4C-A6A2-1D8115A172E2}"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392764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5B44A3A-EC99-3E4C-A6A2-1D8115A172E2}"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3646458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5B44A3A-EC99-3E4C-A6A2-1D8115A172E2}" type="datetimeFigureOut">
              <a:rPr lang="en-US" smtClean="0"/>
              <a:t>4/12/26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233286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5B44A3A-EC99-3E4C-A6A2-1D8115A172E2}" type="datetimeFigureOut">
              <a:rPr lang="en-US" smtClean="0"/>
              <a:t>4/12/26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639319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44A3A-EC99-3E4C-A6A2-1D8115A172E2}" type="datetimeFigureOut">
              <a:rPr lang="en-US" smtClean="0"/>
              <a:t>4/12/26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3691978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C5B44A3A-EC99-3E4C-A6A2-1D8115A172E2}"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2694715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GB"/>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C5B44A3A-EC99-3E4C-A6A2-1D8115A172E2}" type="datetimeFigureOut">
              <a:rPr lang="en-US" smtClean="0"/>
              <a:t>4/12/26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976815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B44A3A-EC99-3E4C-A6A2-1D8115A172E2}"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1727287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B44A3A-EC99-3E4C-A6A2-1D8115A172E2}" type="datetimeFigureOut">
              <a:rPr lang="en-US" smtClean="0"/>
              <a:t>4/12/26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EE4CCB-1776-5044-B1C0-44C3FCA032CB}" type="slidenum">
              <a:rPr lang="en-US" smtClean="0"/>
              <a:t>‹#›</a:t>
            </a:fld>
            <a:endParaRPr lang="en-US"/>
          </a:p>
        </p:txBody>
      </p:sp>
    </p:spTree>
    <p:extLst>
      <p:ext uri="{BB962C8B-B14F-4D97-AF65-F5344CB8AC3E}">
        <p14:creationId xmlns:p14="http://schemas.microsoft.com/office/powerpoint/2010/main" val="601775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82000"/>
                  </a:schemeClr>
                </a:solidFill>
              </a:defRPr>
            </a:lvl1pPr>
          </a:lstStyle>
          <a:p>
            <a:fld id="{C5B44A3A-EC99-3E4C-A6A2-1D8115A172E2}" type="datetimeFigureOut">
              <a:rPr lang="en-US" smtClean="0"/>
              <a:t>4/12/26</a:t>
            </a:fld>
            <a:endParaRPr 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82000"/>
                  </a:schemeClr>
                </a:solidFill>
              </a:defRPr>
            </a:lvl1pPr>
          </a:lstStyle>
          <a:p>
            <a:fld id="{63EE4CCB-1776-5044-B1C0-44C3FCA032CB}" type="slidenum">
              <a:rPr lang="en-US" smtClean="0"/>
              <a:t>‹#›</a:t>
            </a:fld>
            <a:endParaRPr lang="en-US"/>
          </a:p>
        </p:txBody>
      </p:sp>
    </p:spTree>
    <p:extLst>
      <p:ext uri="{BB962C8B-B14F-4D97-AF65-F5344CB8AC3E}">
        <p14:creationId xmlns:p14="http://schemas.microsoft.com/office/powerpoint/2010/main" val="106606299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87D0C08-B3F7-7AB4-E0FE-050C8E09F86B}"/>
              </a:ext>
            </a:extLst>
          </p:cNvPr>
          <p:cNvSpPr/>
          <p:nvPr/>
        </p:nvSpPr>
        <p:spPr>
          <a:xfrm>
            <a:off x="-46687" y="-179016"/>
            <a:ext cx="21476998" cy="8055958"/>
          </a:xfrm>
          <a:prstGeom prst="rect">
            <a:avLst/>
          </a:prstGeom>
          <a:gradFill>
            <a:gsLst>
              <a:gs pos="0">
                <a:srgbClr val="5F758E"/>
              </a:gs>
              <a:gs pos="100000">
                <a:srgbClr val="E1D7CB"/>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4" descr="Free Vectors | heart stethoscope">
            <a:extLst>
              <a:ext uri="{FF2B5EF4-FFF2-40B4-BE49-F238E27FC236}">
                <a16:creationId xmlns:a16="http://schemas.microsoft.com/office/drawing/2014/main" id="{CEA0895B-8EAA-C849-1BB1-8D9B15E95AB7}"/>
              </a:ext>
            </a:extLst>
          </p:cNvPr>
          <p:cNvPicPr>
            <a:picLocks noChangeAspect="1" noChangeArrowheads="1"/>
          </p:cNvPicPr>
          <p:nvPr/>
        </p:nvPicPr>
        <p:blipFill>
          <a:blip r:embed="rId3">
            <a:alphaModFix amt="35000"/>
            <a:extLst>
              <a:ext uri="{BEBA8EAE-BF5A-486C-A8C5-ECC9F3942E4B}">
                <a14:imgProps xmlns:a14="http://schemas.microsoft.com/office/drawing/2010/main">
                  <a14:imgLayer r:embed="rId4">
                    <a14:imgEffect>
                      <a14:backgroundRemoval t="7353" b="90294" l="5463" r="95448">
                        <a14:foregroundMark x1="8346" y1="13529" x2="5311" y2="20000"/>
                        <a14:foregroundMark x1="5311" y1="20000" x2="6677" y2="38235"/>
                        <a14:foregroundMark x1="6677" y1="38235" x2="10926" y2="56471"/>
                        <a14:foregroundMark x1="10926" y1="56471" x2="16692" y2="70294"/>
                        <a14:foregroundMark x1="16692" y1="70294" x2="21851" y2="70588"/>
                        <a14:foregroundMark x1="21851" y1="70588" x2="24583" y2="64118"/>
                        <a14:foregroundMark x1="24583" y1="64118" x2="27011" y2="46176"/>
                        <a14:foregroundMark x1="27011" y1="46176" x2="25645" y2="25588"/>
                        <a14:foregroundMark x1="25645" y1="25588" x2="23976" y2="17059"/>
                        <a14:foregroundMark x1="23976" y1="17059" x2="20182" y2="10588"/>
                        <a14:foregroundMark x1="20182" y1="10588" x2="16388" y2="8235"/>
                        <a14:foregroundMark x1="9408" y1="53824" x2="5311" y2="35588"/>
                        <a14:foregroundMark x1="5311" y1="35588" x2="5463" y2="14412"/>
                        <a14:foregroundMark x1="5463" y1="14412" x2="8194" y2="14706"/>
                        <a14:foregroundMark x1="32777" y1="90882" x2="50531" y2="86176"/>
                        <a14:foregroundMark x1="91047" y1="67941" x2="95296" y2="69118"/>
                        <a14:foregroundMark x1="95296" y1="69118" x2="90895" y2="73235"/>
                        <a14:foregroundMark x1="90895" y1="73235" x2="89378" y2="71471"/>
                        <a14:foregroundMark x1="92564" y1="71471" x2="95448" y2="69706"/>
                      </a14:backgroundRemoval>
                    </a14:imgEffect>
                  </a14:imgLayer>
                </a14:imgProps>
              </a:ext>
              <a:ext uri="{28A0092B-C50C-407E-A947-70E740481C1C}">
                <a14:useLocalDpi xmlns:a14="http://schemas.microsoft.com/office/drawing/2010/main" val="0"/>
              </a:ext>
            </a:extLst>
          </a:blip>
          <a:srcRect/>
          <a:stretch>
            <a:fillRect/>
          </a:stretch>
        </p:blipFill>
        <p:spPr bwMode="auto">
          <a:xfrm rot="18810304">
            <a:off x="12932373" y="2972845"/>
            <a:ext cx="8239897" cy="42512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DEEBB1-472D-C661-259A-E8B17FA6D50E}"/>
              </a:ext>
            </a:extLst>
          </p:cNvPr>
          <p:cNvSpPr txBox="1"/>
          <p:nvPr/>
        </p:nvSpPr>
        <p:spPr>
          <a:xfrm>
            <a:off x="1977447" y="1808900"/>
            <a:ext cx="16556891" cy="5016758"/>
          </a:xfrm>
          <a:prstGeom prst="rect">
            <a:avLst/>
          </a:prstGeom>
          <a:noFill/>
        </p:spPr>
        <p:txBody>
          <a:bodyPr wrap="square">
            <a:spAutoFit/>
          </a:bodyPr>
          <a:lstStyle/>
          <a:p>
            <a:r>
              <a:rPr lang="en-GB" sz="8000" dirty="0">
                <a:solidFill>
                  <a:srgbClr val="3B1E2B"/>
                </a:solidFill>
                <a:latin typeface="ADLaM Display" panose="02010000000000000000" pitchFamily="2" charset="77"/>
                <a:ea typeface="ADLaM Display" panose="02010000000000000000" pitchFamily="2" charset="77"/>
                <a:cs typeface="ADLaM Display" panose="02010000000000000000" pitchFamily="2" charset="77"/>
              </a:rPr>
              <a:t>Simulating More Accurate Patients: Cognitively-Biased Personas for Evaluating Medical LLMs </a:t>
            </a:r>
            <a:endParaRPr lang="en-US" sz="8000" dirty="0">
              <a:solidFill>
                <a:srgbClr val="3B1E2B"/>
              </a:solidFill>
            </a:endParaRPr>
          </a:p>
        </p:txBody>
      </p:sp>
      <p:sp>
        <p:nvSpPr>
          <p:cNvPr id="6" name="TextBox 5">
            <a:extLst>
              <a:ext uri="{FF2B5EF4-FFF2-40B4-BE49-F238E27FC236}">
                <a16:creationId xmlns:a16="http://schemas.microsoft.com/office/drawing/2014/main" id="{6EB78F3B-2166-9B09-8735-CAA0252372C8}"/>
              </a:ext>
            </a:extLst>
          </p:cNvPr>
          <p:cNvSpPr txBox="1"/>
          <p:nvPr/>
        </p:nvSpPr>
        <p:spPr>
          <a:xfrm>
            <a:off x="2078137" y="1295500"/>
            <a:ext cx="11980984" cy="523220"/>
          </a:xfrm>
          <a:prstGeom prst="rect">
            <a:avLst/>
          </a:prstGeom>
          <a:noFill/>
        </p:spPr>
        <p:txBody>
          <a:bodyPr wrap="square" rtlCol="0">
            <a:spAutoFit/>
          </a:bodyPr>
          <a:lstStyle/>
          <a:p>
            <a:r>
              <a:rPr lang="en-US" sz="2800" i="1" dirty="0">
                <a:latin typeface="Abadi MT Condensed Light" panose="020B0306030101010103" pitchFamily="34" charset="77"/>
              </a:rPr>
              <a:t>Emily Kelt  (University of Cambridge ) </a:t>
            </a:r>
          </a:p>
        </p:txBody>
      </p:sp>
      <p:sp>
        <p:nvSpPr>
          <p:cNvPr id="23" name="TextBox 22">
            <a:extLst>
              <a:ext uri="{FF2B5EF4-FFF2-40B4-BE49-F238E27FC236}">
                <a16:creationId xmlns:a16="http://schemas.microsoft.com/office/drawing/2014/main" id="{2CD644BE-45D2-3FBF-B193-383DCC1E6C36}"/>
              </a:ext>
            </a:extLst>
          </p:cNvPr>
          <p:cNvSpPr txBox="1"/>
          <p:nvPr/>
        </p:nvSpPr>
        <p:spPr>
          <a:xfrm>
            <a:off x="11265783" y="8819322"/>
            <a:ext cx="2293000" cy="830997"/>
          </a:xfrm>
          <a:prstGeom prst="rect">
            <a:avLst/>
          </a:prstGeom>
          <a:noFill/>
        </p:spPr>
        <p:txBody>
          <a:bodyPr wrap="none" rtlCol="0">
            <a:spAutoFit/>
          </a:bodyPr>
          <a:lstStyle/>
          <a:p>
            <a:r>
              <a:rPr lang="en-US" sz="4800" dirty="0">
                <a:latin typeface="ADLaM Display" panose="02010000000000000000" pitchFamily="2" charset="77"/>
                <a:ea typeface="ADLaM Display" panose="02010000000000000000" pitchFamily="2" charset="77"/>
                <a:cs typeface="ADLaM Display" panose="02010000000000000000" pitchFamily="2" charset="77"/>
              </a:rPr>
              <a:t>Results</a:t>
            </a:r>
          </a:p>
        </p:txBody>
      </p:sp>
      <p:sp>
        <p:nvSpPr>
          <p:cNvPr id="26" name="TextBox 25">
            <a:extLst>
              <a:ext uri="{FF2B5EF4-FFF2-40B4-BE49-F238E27FC236}">
                <a16:creationId xmlns:a16="http://schemas.microsoft.com/office/drawing/2014/main" id="{7D74C99F-EFF3-1489-C7C6-19285F516881}"/>
              </a:ext>
            </a:extLst>
          </p:cNvPr>
          <p:cNvSpPr txBox="1"/>
          <p:nvPr/>
        </p:nvSpPr>
        <p:spPr>
          <a:xfrm>
            <a:off x="11751559" y="13743775"/>
            <a:ext cx="9361949" cy="646331"/>
          </a:xfrm>
          <a:prstGeom prst="rect">
            <a:avLst/>
          </a:prstGeom>
          <a:noFill/>
        </p:spPr>
        <p:txBody>
          <a:bodyPr wrap="square" rtlCol="0">
            <a:spAutoFit/>
          </a:bodyPr>
          <a:lstStyle/>
          <a:p>
            <a:r>
              <a:rPr lang="en-US" dirty="0">
                <a:latin typeface="Bookman Old Style" panose="02050604050505020204" pitchFamily="18" charset="0"/>
              </a:rPr>
              <a:t>Heatmap of the LLMs accuracy in different scenarios. The optimal mixture reduces the bimodality seen in the other personas (especially the standard) </a:t>
            </a:r>
          </a:p>
        </p:txBody>
      </p:sp>
      <p:pic>
        <p:nvPicPr>
          <p:cNvPr id="2052" name="Picture 4" descr="University of Cambridge (.EPS) vector logo - University of Cambridge (.EPS)  logo vector free download">
            <a:extLst>
              <a:ext uri="{FF2B5EF4-FFF2-40B4-BE49-F238E27FC236}">
                <a16:creationId xmlns:a16="http://schemas.microsoft.com/office/drawing/2014/main" id="{A7C43E57-900B-72F7-3784-A8BD6AF277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246" y="252864"/>
            <a:ext cx="1565856" cy="156585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er-scenario heatmap">
            <a:extLst>
              <a:ext uri="{FF2B5EF4-FFF2-40B4-BE49-F238E27FC236}">
                <a16:creationId xmlns:a16="http://schemas.microsoft.com/office/drawing/2014/main" id="{F5F726BC-CBBF-68DF-94A1-65368E147D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65783" y="9664582"/>
            <a:ext cx="8878192" cy="40649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C134628-D87C-1AF5-E499-4E32B3F0EBF1}"/>
              </a:ext>
            </a:extLst>
          </p:cNvPr>
          <p:cNvSpPr txBox="1"/>
          <p:nvPr/>
        </p:nvSpPr>
        <p:spPr>
          <a:xfrm>
            <a:off x="2042189" y="8671048"/>
            <a:ext cx="3711465" cy="830997"/>
          </a:xfrm>
          <a:prstGeom prst="rect">
            <a:avLst/>
          </a:prstGeom>
          <a:noFill/>
        </p:spPr>
        <p:txBody>
          <a:bodyPr wrap="none" rtlCol="0">
            <a:spAutoFit/>
          </a:bodyPr>
          <a:lstStyle/>
          <a:p>
            <a:r>
              <a:rPr lang="en-US" sz="4800" dirty="0">
                <a:latin typeface="ADLaM Display" panose="02010000000000000000" pitchFamily="2" charset="77"/>
                <a:ea typeface="ADLaM Display" panose="02010000000000000000" pitchFamily="2" charset="77"/>
                <a:cs typeface="ADLaM Display" panose="02010000000000000000" pitchFamily="2" charset="77"/>
              </a:rPr>
              <a:t>Background</a:t>
            </a:r>
          </a:p>
        </p:txBody>
      </p:sp>
      <p:sp>
        <p:nvSpPr>
          <p:cNvPr id="9" name="TextBox 8">
            <a:extLst>
              <a:ext uri="{FF2B5EF4-FFF2-40B4-BE49-F238E27FC236}">
                <a16:creationId xmlns:a16="http://schemas.microsoft.com/office/drawing/2014/main" id="{ED48492C-7752-9E3A-05E8-C354EABB8414}"/>
              </a:ext>
            </a:extLst>
          </p:cNvPr>
          <p:cNvSpPr txBox="1"/>
          <p:nvPr/>
        </p:nvSpPr>
        <p:spPr>
          <a:xfrm>
            <a:off x="1977447" y="15697826"/>
            <a:ext cx="6718969" cy="14773275"/>
          </a:xfrm>
          <a:prstGeom prst="rect">
            <a:avLst/>
          </a:prstGeom>
          <a:noFill/>
        </p:spPr>
        <p:txBody>
          <a:bodyPr wrap="square" rtlCol="0">
            <a:spAutoFit/>
          </a:bodyPr>
          <a:lstStyle/>
          <a:p>
            <a:r>
              <a:rPr lang="en-GB" dirty="0">
                <a:latin typeface="Bookman Old Style" panose="02050604050505020204" pitchFamily="18" charset="0"/>
              </a:rPr>
              <a:t>I replicated the standard persona (with GPT-4o-2024-05-13) used to evaluate medical LLMs in Bean et Al’s paper (my accuracy of the model was 52.4% vs their 52%)  </a:t>
            </a:r>
          </a:p>
          <a:p>
            <a:r>
              <a:rPr lang="en-GB" dirty="0">
                <a:latin typeface="Bookman Old Style" panose="02050604050505020204" pitchFamily="18" charset="0"/>
              </a:rPr>
              <a:t>Then created prompts for each of the 5 personas based off </a:t>
            </a:r>
            <a:r>
              <a:rPr lang="en-GB" dirty="0" err="1">
                <a:latin typeface="Bookman Old Style" panose="02050604050505020204" pitchFamily="18" charset="0"/>
              </a:rPr>
              <a:t>Croskerry’s</a:t>
            </a:r>
            <a:r>
              <a:rPr lang="en-GB" dirty="0">
                <a:latin typeface="Bookman Old Style" panose="02050604050505020204" pitchFamily="18" charset="0"/>
              </a:rPr>
              <a:t> cognitive error personas:</a:t>
            </a:r>
          </a:p>
          <a:p>
            <a:endParaRPr lang="en-GB" dirty="0">
              <a:latin typeface="Bookman Old Style" panose="02050604050505020204" pitchFamily="18" charset="0"/>
            </a:endParaRPr>
          </a:p>
          <a:p>
            <a:pPr marL="285750" indent="-285750">
              <a:buFont typeface="Arial" panose="020B0604020202020204" pitchFamily="34" charset="0"/>
              <a:buChar char="•"/>
            </a:pPr>
            <a:r>
              <a:rPr lang="en-GB" b="1" dirty="0" err="1">
                <a:latin typeface="Bookman Old Style" panose="02050604050505020204" pitchFamily="18" charset="0"/>
              </a:rPr>
              <a:t>Anchorer</a:t>
            </a:r>
            <a:r>
              <a:rPr lang="en-GB" dirty="0">
                <a:latin typeface="Bookman Old Style" panose="02050604050505020204" pitchFamily="18" charset="0"/>
              </a:rPr>
              <a:t> – </a:t>
            </a:r>
            <a:r>
              <a:rPr lang="en-GB" i="1" dirty="0">
                <a:latin typeface="Bookman Old Style" panose="02050604050505020204" pitchFamily="18" charset="0"/>
              </a:rPr>
              <a:t>anchors to the first option provided</a:t>
            </a:r>
            <a:endParaRPr lang="en-GB" dirty="0">
              <a:latin typeface="Bookman Old Style" panose="02050604050505020204" pitchFamily="18" charset="0"/>
            </a:endParaRPr>
          </a:p>
          <a:p>
            <a:pPr marL="285750" indent="-285750">
              <a:buFont typeface="Arial" panose="020B0604020202020204" pitchFamily="34" charset="0"/>
              <a:buChar char="•"/>
            </a:pPr>
            <a:r>
              <a:rPr lang="en-GB" b="1" dirty="0">
                <a:latin typeface="Bookman Old Style" panose="02050604050505020204" pitchFamily="18" charset="0"/>
              </a:rPr>
              <a:t>Anxious catastrophiser </a:t>
            </a:r>
            <a:r>
              <a:rPr lang="en-GB" dirty="0">
                <a:latin typeface="Bookman Old Style" panose="02050604050505020204" pitchFamily="18" charset="0"/>
              </a:rPr>
              <a:t>– </a:t>
            </a:r>
            <a:r>
              <a:rPr lang="en-GB" i="1" dirty="0">
                <a:latin typeface="Bookman Old Style" panose="02050604050505020204" pitchFamily="18" charset="0"/>
              </a:rPr>
              <a:t>always worries and assumes the worse</a:t>
            </a:r>
            <a:endParaRPr lang="en-GB" dirty="0">
              <a:latin typeface="Bookman Old Style" panose="02050604050505020204" pitchFamily="18" charset="0"/>
            </a:endParaRPr>
          </a:p>
          <a:p>
            <a:pPr marL="285750" indent="-285750">
              <a:buFont typeface="Arial" panose="020B0604020202020204" pitchFamily="34" charset="0"/>
              <a:buChar char="•"/>
            </a:pPr>
            <a:r>
              <a:rPr lang="en-GB" b="1" dirty="0">
                <a:latin typeface="Bookman Old Style" panose="02050604050505020204" pitchFamily="18" charset="0"/>
              </a:rPr>
              <a:t>Confidence deferrer </a:t>
            </a:r>
            <a:r>
              <a:rPr lang="en-GB" dirty="0">
                <a:latin typeface="Bookman Old Style" panose="02050604050505020204" pitchFamily="18" charset="0"/>
              </a:rPr>
              <a:t>– </a:t>
            </a:r>
            <a:r>
              <a:rPr lang="en-GB" i="1" dirty="0">
                <a:latin typeface="Bookman Old Style" panose="02050604050505020204" pitchFamily="18" charset="0"/>
              </a:rPr>
              <a:t>trusts something that sounds confident (</a:t>
            </a:r>
            <a:r>
              <a:rPr lang="en-GB" i="1" dirty="0" err="1">
                <a:latin typeface="Bookman Old Style" panose="02050604050505020204" pitchFamily="18" charset="0"/>
              </a:rPr>
              <a:t>authourity</a:t>
            </a:r>
            <a:r>
              <a:rPr lang="en-GB" i="1" dirty="0">
                <a:latin typeface="Bookman Old Style" panose="02050604050505020204" pitchFamily="18" charset="0"/>
              </a:rPr>
              <a:t> / automation bias)</a:t>
            </a:r>
            <a:endParaRPr lang="en-GB" dirty="0">
              <a:latin typeface="Bookman Old Style" panose="02050604050505020204" pitchFamily="18" charset="0"/>
            </a:endParaRPr>
          </a:p>
          <a:p>
            <a:pPr marL="285750" indent="-285750">
              <a:buFont typeface="Arial" panose="020B0604020202020204" pitchFamily="34" charset="0"/>
              <a:buChar char="•"/>
            </a:pPr>
            <a:r>
              <a:rPr lang="en-GB" b="1" dirty="0" err="1">
                <a:latin typeface="Bookman Old Style" panose="02050604050505020204" pitchFamily="18" charset="0"/>
              </a:rPr>
              <a:t>Dismisser</a:t>
            </a:r>
            <a:r>
              <a:rPr lang="en-GB" dirty="0">
                <a:latin typeface="Bookman Old Style" panose="02050604050505020204" pitchFamily="18" charset="0"/>
              </a:rPr>
              <a:t> – </a:t>
            </a:r>
            <a:r>
              <a:rPr lang="en-GB" i="1" dirty="0">
                <a:latin typeface="Bookman Old Style" panose="02050604050505020204" pitchFamily="18" charset="0"/>
              </a:rPr>
              <a:t>minimise and misrepresent symptoms hoping it will not be anything serious </a:t>
            </a:r>
            <a:endParaRPr lang="en-GB" dirty="0">
              <a:latin typeface="Bookman Old Style" panose="02050604050505020204" pitchFamily="18" charset="0"/>
            </a:endParaRPr>
          </a:p>
          <a:p>
            <a:pPr marL="285750" indent="-285750">
              <a:buFont typeface="Arial" panose="020B0604020202020204" pitchFamily="34" charset="0"/>
              <a:buChar char="•"/>
            </a:pPr>
            <a:r>
              <a:rPr lang="en-GB" b="1" dirty="0">
                <a:latin typeface="Bookman Old Style" panose="02050604050505020204" pitchFamily="18" charset="0"/>
              </a:rPr>
              <a:t>Premature closer </a:t>
            </a:r>
            <a:r>
              <a:rPr lang="en-GB" dirty="0">
                <a:latin typeface="Bookman Old Style" panose="02050604050505020204" pitchFamily="18" charset="0"/>
              </a:rPr>
              <a:t>– </a:t>
            </a:r>
            <a:r>
              <a:rPr lang="en-GB" i="1" dirty="0">
                <a:latin typeface="Bookman Old Style" panose="02050604050505020204" pitchFamily="18" charset="0"/>
              </a:rPr>
              <a:t>accepts a diagnosis provided without questioning to end early </a:t>
            </a:r>
          </a:p>
          <a:p>
            <a:pPr marL="285750" indent="-285750">
              <a:buFont typeface="Arial" panose="020B0604020202020204" pitchFamily="34" charset="0"/>
              <a:buChar char="•"/>
            </a:pPr>
            <a:endParaRPr lang="en-GB" i="1" dirty="0">
              <a:latin typeface="Bookman Old Style" panose="02050604050505020204" pitchFamily="18" charset="0"/>
            </a:endParaRPr>
          </a:p>
          <a:p>
            <a:r>
              <a:rPr lang="en-GB" b="1" dirty="0">
                <a:latin typeface="Bookman Old Style" panose="02050604050505020204" pitchFamily="18" charset="0"/>
              </a:rPr>
              <a:t>10</a:t>
            </a:r>
            <a:r>
              <a:rPr lang="en-GB" dirty="0">
                <a:latin typeface="Bookman Old Style" panose="02050604050505020204" pitchFamily="18" charset="0"/>
              </a:rPr>
              <a:t> validated medical scenarios spanning the NHS urgency spectrum with a variety of conditions. Conversation limited to 10 turns per persona per scenario. Dispositions are clinicians judgements</a:t>
            </a:r>
          </a:p>
          <a:p>
            <a:r>
              <a:rPr lang="en-GB" b="1" dirty="0">
                <a:latin typeface="Bookman Old Style" panose="02050604050505020204" pitchFamily="18" charset="0"/>
              </a:rPr>
              <a:t>25</a:t>
            </a:r>
            <a:r>
              <a:rPr lang="en-GB" dirty="0">
                <a:latin typeface="Bookman Old Style" panose="02050604050505020204" pitchFamily="18" charset="0"/>
              </a:rPr>
              <a:t> runs of the scenarios per persona (1,500 conversations total)</a:t>
            </a:r>
          </a:p>
          <a:p>
            <a:endParaRPr lang="en-GB" dirty="0">
              <a:latin typeface="Bookman Old Style" panose="02050604050505020204" pitchFamily="18" charset="0"/>
            </a:endParaRPr>
          </a:p>
          <a:p>
            <a:r>
              <a:rPr lang="en-GB" dirty="0">
                <a:latin typeface="Bookman Old Style" panose="02050604050505020204" pitchFamily="18" charset="0"/>
              </a:rPr>
              <a:t>Accuracy for each persona is compared to the standard (52.4%), and to human baseline (43%) </a:t>
            </a:r>
          </a:p>
          <a:p>
            <a:r>
              <a:rPr lang="en-GB" dirty="0">
                <a:latin typeface="Bookman Old Style" panose="02050604050505020204" pitchFamily="18" charset="0"/>
              </a:rPr>
              <a:t>Individually, personas still exhibited the bimodal distribution across scenarios. Real patients don’t usually exhibit just one bias, so I calculated the ‘optimal mixture’ of biases. With SLSQP </a:t>
            </a:r>
          </a:p>
          <a:p>
            <a:endParaRPr lang="en-GB" dirty="0">
              <a:latin typeface="Bookman Old Style" panose="02050604050505020204" pitchFamily="18" charset="0"/>
            </a:endParaRPr>
          </a:p>
          <a:p>
            <a:endParaRPr lang="en-GB" dirty="0">
              <a:latin typeface="Bookman Old Style" panose="02050604050505020204" pitchFamily="18" charset="0"/>
            </a:endParaRPr>
          </a:p>
          <a:p>
            <a:endParaRPr lang="en-GB" dirty="0">
              <a:latin typeface="Bookman Old Style" panose="02050604050505020204" pitchFamily="18" charset="0"/>
            </a:endParaRPr>
          </a:p>
          <a:p>
            <a:endParaRPr lang="en-GB" dirty="0">
              <a:latin typeface="Bookman Old Style" panose="02050604050505020204" pitchFamily="18" charset="0"/>
            </a:endParaRPr>
          </a:p>
          <a:p>
            <a:r>
              <a:rPr lang="en-GB" dirty="0">
                <a:latin typeface="Bookman Old Style" panose="02050604050505020204" pitchFamily="18" charset="0"/>
              </a:rPr>
              <a:t>This was found to be 41.2% </a:t>
            </a:r>
            <a:r>
              <a:rPr lang="en-GB" dirty="0" err="1">
                <a:latin typeface="Bookman Old Style" panose="02050604050505020204" pitchFamily="18" charset="0"/>
              </a:rPr>
              <a:t>anchorer</a:t>
            </a:r>
            <a:r>
              <a:rPr lang="en-GB" dirty="0">
                <a:latin typeface="Bookman Old Style" panose="02050604050505020204" pitchFamily="18" charset="0"/>
              </a:rPr>
              <a:t>, 33.4% anxious catastrophiser, and 5.4% </a:t>
            </a:r>
            <a:r>
              <a:rPr lang="en-GB" dirty="0" err="1">
                <a:latin typeface="Bookman Old Style" panose="02050604050505020204" pitchFamily="18" charset="0"/>
              </a:rPr>
              <a:t>dismisser</a:t>
            </a:r>
            <a:r>
              <a:rPr lang="en-GB" dirty="0">
                <a:latin typeface="Bookman Old Style" panose="02050604050505020204" pitchFamily="18" charset="0"/>
              </a:rPr>
              <a:t>. </a:t>
            </a:r>
          </a:p>
          <a:p>
            <a:r>
              <a:rPr lang="en-GB" dirty="0">
                <a:latin typeface="Bookman Old Style" panose="02050604050505020204" pitchFamily="18" charset="0"/>
              </a:rPr>
              <a:t>I used LOSO-CV to validate. </a:t>
            </a:r>
          </a:p>
          <a:p>
            <a:r>
              <a:rPr lang="en-GB" dirty="0">
                <a:latin typeface="Bookman Old Style" panose="02050604050505020204" pitchFamily="18" charset="0"/>
              </a:rPr>
              <a:t>The RMSE is 23.1pp vs 38.8pp for the standard run. The bimodal pattern settles as well. </a:t>
            </a:r>
          </a:p>
          <a:p>
            <a:r>
              <a:rPr lang="en-GB" dirty="0">
                <a:latin typeface="Bookman Old Style" panose="02050604050505020204" pitchFamily="18" charset="0"/>
              </a:rPr>
              <a:t>I also ran this with Claude’s Haiku model, which produced similar results, but interestingly, the overall accuracy matches human’s closer than GPT-4o (but is not as close to human distribution per-scenario).</a:t>
            </a:r>
          </a:p>
          <a:p>
            <a:endParaRPr lang="en-GB" dirty="0">
              <a:latin typeface="Bookman Old Style" panose="02050604050505020204" pitchFamily="18" charset="0"/>
            </a:endParaRPr>
          </a:p>
          <a:p>
            <a:r>
              <a:rPr lang="en-GB" dirty="0">
                <a:latin typeface="Bookman Old Style" panose="02050604050505020204" pitchFamily="18" charset="0"/>
              </a:rPr>
              <a:t>To rule out incoherent role-play as an explanation for observed findings, I applied </a:t>
            </a:r>
            <a:r>
              <a:rPr lang="en-GB" dirty="0" err="1">
                <a:latin typeface="Bookman Old Style" panose="02050604050505020204" pitchFamily="18" charset="0"/>
              </a:rPr>
              <a:t>Abdulhai</a:t>
            </a:r>
            <a:r>
              <a:rPr lang="en-GB" dirty="0">
                <a:latin typeface="Bookman Old Style" panose="02050604050505020204" pitchFamily="18" charset="0"/>
              </a:rPr>
              <a:t> et al.’s (</a:t>
            </a:r>
            <a:r>
              <a:rPr lang="en-GB" dirty="0" err="1">
                <a:latin typeface="Bookman Old Style" panose="02050604050505020204" pitchFamily="18" charset="0"/>
              </a:rPr>
              <a:t>NeurIPS</a:t>
            </a:r>
            <a:r>
              <a:rPr lang="en-GB" dirty="0">
                <a:latin typeface="Bookman Old Style" panose="02050604050505020204" pitchFamily="18" charset="0"/>
              </a:rPr>
              <a:t> 2025) automated consistency metrics, and all of the metrics are at or near perfect across the board, showing that the issue in accuracy disparity is due to the decision level, not failed role-play. </a:t>
            </a:r>
          </a:p>
          <a:p>
            <a:endParaRPr lang="en-GB" dirty="0">
              <a:latin typeface="Bookman Old Style" panose="02050604050505020204" pitchFamily="18" charset="0"/>
            </a:endParaRPr>
          </a:p>
          <a:p>
            <a:endParaRPr lang="en-GB" dirty="0">
              <a:latin typeface="Bookman Old Style" panose="02050604050505020204" pitchFamily="18" charset="0"/>
            </a:endParaRPr>
          </a:p>
          <a:p>
            <a:endParaRPr lang="en-US" dirty="0">
              <a:latin typeface="Bookman Old Style" panose="02050604050505020204" pitchFamily="18" charset="0"/>
            </a:endParaRPr>
          </a:p>
          <a:p>
            <a:r>
              <a:rPr lang="en-US" dirty="0">
                <a:latin typeface="Bookman Old Style" panose="02050604050505020204" pitchFamily="18" charset="0"/>
              </a:rPr>
              <a:t>   </a:t>
            </a:r>
          </a:p>
        </p:txBody>
      </p:sp>
      <p:sp>
        <p:nvSpPr>
          <p:cNvPr id="11" name="TextBox 10">
            <a:extLst>
              <a:ext uri="{FF2B5EF4-FFF2-40B4-BE49-F238E27FC236}">
                <a16:creationId xmlns:a16="http://schemas.microsoft.com/office/drawing/2014/main" id="{5A9830A0-A02A-08ED-8DDB-E4F2801ED4B4}"/>
              </a:ext>
            </a:extLst>
          </p:cNvPr>
          <p:cNvSpPr txBox="1"/>
          <p:nvPr/>
        </p:nvSpPr>
        <p:spPr>
          <a:xfrm>
            <a:off x="11265782" y="22829125"/>
            <a:ext cx="3409908" cy="830997"/>
          </a:xfrm>
          <a:prstGeom prst="rect">
            <a:avLst/>
          </a:prstGeom>
          <a:noFill/>
        </p:spPr>
        <p:txBody>
          <a:bodyPr wrap="none" rtlCol="0">
            <a:spAutoFit/>
          </a:bodyPr>
          <a:lstStyle/>
          <a:p>
            <a:r>
              <a:rPr lang="en-US" sz="4800" dirty="0">
                <a:latin typeface="ADLaM Display" panose="02010000000000000000" pitchFamily="2" charset="77"/>
                <a:ea typeface="ADLaM Display" panose="02010000000000000000" pitchFamily="2" charset="77"/>
                <a:cs typeface="ADLaM Display" panose="02010000000000000000" pitchFamily="2" charset="77"/>
              </a:rPr>
              <a:t>Conclusion</a:t>
            </a:r>
          </a:p>
        </p:txBody>
      </p:sp>
      <p:sp>
        <p:nvSpPr>
          <p:cNvPr id="12" name="TextBox 11">
            <a:extLst>
              <a:ext uri="{FF2B5EF4-FFF2-40B4-BE49-F238E27FC236}">
                <a16:creationId xmlns:a16="http://schemas.microsoft.com/office/drawing/2014/main" id="{29637003-656D-C439-10B2-C754D1195B63}"/>
              </a:ext>
            </a:extLst>
          </p:cNvPr>
          <p:cNvSpPr txBox="1"/>
          <p:nvPr/>
        </p:nvSpPr>
        <p:spPr>
          <a:xfrm>
            <a:off x="2078137" y="14866829"/>
            <a:ext cx="2484142" cy="830997"/>
          </a:xfrm>
          <a:prstGeom prst="rect">
            <a:avLst/>
          </a:prstGeom>
          <a:noFill/>
        </p:spPr>
        <p:txBody>
          <a:bodyPr wrap="none" rtlCol="0">
            <a:spAutoFit/>
          </a:bodyPr>
          <a:lstStyle/>
          <a:p>
            <a:r>
              <a:rPr lang="en-US" sz="4800" dirty="0">
                <a:latin typeface="ADLaM Display" panose="02010000000000000000" pitchFamily="2" charset="77"/>
                <a:ea typeface="ADLaM Display" panose="02010000000000000000" pitchFamily="2" charset="77"/>
                <a:cs typeface="ADLaM Display" panose="02010000000000000000" pitchFamily="2" charset="77"/>
              </a:rPr>
              <a:t>Method</a:t>
            </a:r>
          </a:p>
        </p:txBody>
      </p:sp>
      <p:sp>
        <p:nvSpPr>
          <p:cNvPr id="13" name="TextBox 12">
            <a:extLst>
              <a:ext uri="{FF2B5EF4-FFF2-40B4-BE49-F238E27FC236}">
                <a16:creationId xmlns:a16="http://schemas.microsoft.com/office/drawing/2014/main" id="{25F75A77-6CE7-B8A9-5F12-884BB27CDAAF}"/>
              </a:ext>
            </a:extLst>
          </p:cNvPr>
          <p:cNvSpPr txBox="1"/>
          <p:nvPr/>
        </p:nvSpPr>
        <p:spPr>
          <a:xfrm>
            <a:off x="2078138" y="9584172"/>
            <a:ext cx="6718969" cy="5355312"/>
          </a:xfrm>
          <a:prstGeom prst="rect">
            <a:avLst/>
          </a:prstGeom>
          <a:noFill/>
        </p:spPr>
        <p:txBody>
          <a:bodyPr wrap="square" rtlCol="0">
            <a:spAutoFit/>
          </a:bodyPr>
          <a:lstStyle/>
          <a:p>
            <a:r>
              <a:rPr lang="en-US" dirty="0">
                <a:latin typeface="Bookman Old Style" panose="02050604050505020204" pitchFamily="18" charset="0"/>
              </a:rPr>
              <a:t>One of the main issues in using LLMs for medical advice is the usability gap. They perform well in benchmarks, but this fails to translate. </a:t>
            </a:r>
          </a:p>
          <a:p>
            <a:r>
              <a:rPr lang="en-US" dirty="0">
                <a:latin typeface="Bookman Old Style" panose="02050604050505020204" pitchFamily="18" charset="0"/>
              </a:rPr>
              <a:t>When testing medical LLM’s against simulated patient personas (LLMs), and real patients, simulated patients are much more accurate than real patients.</a:t>
            </a:r>
          </a:p>
          <a:p>
            <a:r>
              <a:rPr lang="en-US" dirty="0">
                <a:latin typeface="Bookman Old Style" panose="02050604050505020204" pitchFamily="18" charset="0"/>
              </a:rPr>
              <a:t>Simulated patients also exhibited a bimodal pattern of accuracy, often either 0% or 100%, which does not match the human distribution. This is an issue in “silicon sampling” where you use LLMs to simulate human populations, LLM’s training distribution </a:t>
            </a:r>
            <a:r>
              <a:rPr lang="en-US" dirty="0" err="1">
                <a:latin typeface="Bookman Old Style" panose="02050604050505020204" pitchFamily="18" charset="0"/>
              </a:rPr>
              <a:t>homogenises</a:t>
            </a:r>
            <a:r>
              <a:rPr lang="en-US" dirty="0">
                <a:latin typeface="Bookman Old Style" panose="02050604050505020204" pitchFamily="18" charset="0"/>
              </a:rPr>
              <a:t> responses in ways that don’t reflect human heterogeneity. </a:t>
            </a:r>
          </a:p>
          <a:p>
            <a:endParaRPr lang="en-US" sz="2400" dirty="0">
              <a:latin typeface="Abadi MT Condensed Light" panose="020B0306030101010103" pitchFamily="34" charset="77"/>
            </a:endParaRPr>
          </a:p>
          <a:p>
            <a:r>
              <a:rPr lang="en-US" i="1" dirty="0">
                <a:latin typeface="Abadi MT Condensed Light" panose="020B0306030101010103" pitchFamily="34" charset="77"/>
              </a:rPr>
              <a:t>Based on </a:t>
            </a:r>
          </a:p>
          <a:p>
            <a:r>
              <a:rPr lang="en-US" i="1" dirty="0">
                <a:latin typeface="Abadi MT Condensed Light" panose="020B0306030101010103" pitchFamily="34" charset="77"/>
              </a:rPr>
              <a:t> </a:t>
            </a:r>
            <a:r>
              <a:rPr lang="en-GB" i="1" dirty="0">
                <a:latin typeface="Abadi MT Condensed Light" panose="020B0306030101010103" pitchFamily="34" charset="77"/>
              </a:rPr>
              <a:t>Bean et al. (2026). Reliability of LLMs as medical assistants. &amp; </a:t>
            </a:r>
            <a:r>
              <a:rPr lang="en-GB" i="1" dirty="0" err="1">
                <a:latin typeface="Abadi MT Condensed Light" panose="020B0306030101010103" pitchFamily="34" charset="77"/>
              </a:rPr>
              <a:t>Croskerry</a:t>
            </a:r>
            <a:r>
              <a:rPr lang="en-GB" i="1" dirty="0">
                <a:latin typeface="Abadi MT Condensed Light" panose="020B0306030101010103" pitchFamily="34" charset="77"/>
              </a:rPr>
              <a:t> (2003). The importance of cognitive errors in diagnosis. Annals of Emergency Medicine. </a:t>
            </a:r>
          </a:p>
          <a:p>
            <a:endParaRPr lang="en-US" sz="2400" dirty="0">
              <a:latin typeface="Abadi MT Condensed Light" panose="020B0306030101010103" pitchFamily="34" charset="77"/>
            </a:endParaRPr>
          </a:p>
          <a:p>
            <a:r>
              <a:rPr lang="en-US" sz="2400" dirty="0">
                <a:latin typeface="Abadi MT Condensed Light" panose="020B0306030101010103" pitchFamily="34" charset="77"/>
              </a:rPr>
              <a:t>   </a:t>
            </a:r>
          </a:p>
        </p:txBody>
      </p:sp>
      <p:sp>
        <p:nvSpPr>
          <p:cNvPr id="15" name="TextBox 14">
            <a:extLst>
              <a:ext uri="{FF2B5EF4-FFF2-40B4-BE49-F238E27FC236}">
                <a16:creationId xmlns:a16="http://schemas.microsoft.com/office/drawing/2014/main" id="{251345B4-7EEA-573A-2CC6-D997629F04FC}"/>
              </a:ext>
            </a:extLst>
          </p:cNvPr>
          <p:cNvSpPr txBox="1"/>
          <p:nvPr/>
        </p:nvSpPr>
        <p:spPr>
          <a:xfrm>
            <a:off x="11723750" y="18355699"/>
            <a:ext cx="8264477" cy="923330"/>
          </a:xfrm>
          <a:prstGeom prst="rect">
            <a:avLst/>
          </a:prstGeom>
          <a:noFill/>
        </p:spPr>
        <p:txBody>
          <a:bodyPr wrap="square" rtlCol="0">
            <a:spAutoFit/>
          </a:bodyPr>
          <a:lstStyle/>
          <a:p>
            <a:r>
              <a:rPr lang="en-US" dirty="0">
                <a:latin typeface="Bookman Old Style" panose="02050604050505020204" pitchFamily="18" charset="0"/>
              </a:rPr>
              <a:t>You can see here that per-scenario accuracy (in</a:t>
            </a:r>
            <a:r>
              <a:rPr lang="en-US" dirty="0">
                <a:highlight>
                  <a:srgbClr val="E1D7CB"/>
                </a:highlight>
                <a:latin typeface="Bookman Old Style" panose="02050604050505020204" pitchFamily="18" charset="0"/>
              </a:rPr>
              <a:t> orange </a:t>
            </a:r>
            <a:r>
              <a:rPr lang="en-US" dirty="0">
                <a:latin typeface="Bookman Old Style" panose="02050604050505020204" pitchFamily="18" charset="0"/>
              </a:rPr>
              <a:t>dashed line) was much closer to human baseline (black line) with an optimal mixture of the biases. </a:t>
            </a:r>
          </a:p>
        </p:txBody>
      </p:sp>
      <p:sp>
        <p:nvSpPr>
          <p:cNvPr id="22" name="TextBox 21">
            <a:extLst>
              <a:ext uri="{FF2B5EF4-FFF2-40B4-BE49-F238E27FC236}">
                <a16:creationId xmlns:a16="http://schemas.microsoft.com/office/drawing/2014/main" id="{09F16377-9B23-225A-4D21-2DA77BC80CBF}"/>
              </a:ext>
            </a:extLst>
          </p:cNvPr>
          <p:cNvSpPr txBox="1"/>
          <p:nvPr/>
        </p:nvSpPr>
        <p:spPr>
          <a:xfrm>
            <a:off x="11265782" y="23660121"/>
            <a:ext cx="7670800" cy="1754326"/>
          </a:xfrm>
          <a:prstGeom prst="rect">
            <a:avLst/>
          </a:prstGeom>
          <a:noFill/>
        </p:spPr>
        <p:txBody>
          <a:bodyPr wrap="square" rtlCol="0">
            <a:spAutoFit/>
          </a:bodyPr>
          <a:lstStyle/>
          <a:p>
            <a:r>
              <a:rPr lang="en-US" dirty="0">
                <a:latin typeface="Bookman Old Style" panose="02050604050505020204" pitchFamily="18" charset="0"/>
              </a:rPr>
              <a:t>I found that for GPT-4o, we can simulate a patient that has performance more realistic to a human on the </a:t>
            </a:r>
            <a:r>
              <a:rPr lang="en-US" dirty="0" err="1">
                <a:latin typeface="Bookman Old Style" panose="02050604050505020204" pitchFamily="18" charset="0"/>
              </a:rPr>
              <a:t>HELPMed</a:t>
            </a:r>
            <a:r>
              <a:rPr lang="en-US" dirty="0">
                <a:latin typeface="Bookman Old Style" panose="02050604050505020204" pitchFamily="18" charset="0"/>
              </a:rPr>
              <a:t> Dataset. </a:t>
            </a:r>
          </a:p>
          <a:p>
            <a:r>
              <a:rPr lang="en-US" dirty="0">
                <a:latin typeface="Bookman Old Style" panose="02050604050505020204" pitchFamily="18" charset="0"/>
              </a:rPr>
              <a:t>Individual biases did not make the accuracy closer to a humans in themselves, but a combination of biases could be used to exhibit similar accuracy and behavior (i.e. less bimodality) to a human in these simulated medical scenarios. </a:t>
            </a:r>
          </a:p>
        </p:txBody>
      </p:sp>
      <p:sp>
        <p:nvSpPr>
          <p:cNvPr id="28" name="AutoShape 2" descr="Generated QR code">
            <a:extLst>
              <a:ext uri="{FF2B5EF4-FFF2-40B4-BE49-F238E27FC236}">
                <a16:creationId xmlns:a16="http://schemas.microsoft.com/office/drawing/2014/main" id="{098E055D-34CD-13A7-E48A-33F3AF7A5D37}"/>
              </a:ext>
            </a:extLst>
          </p:cNvPr>
          <p:cNvSpPr>
            <a:spLocks noChangeAspect="1" noChangeArrowheads="1"/>
          </p:cNvSpPr>
          <p:nvPr/>
        </p:nvSpPr>
        <p:spPr bwMode="auto">
          <a:xfrm>
            <a:off x="5336932" y="1895792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 name="Picture 29" descr="A qr code with black squares&#10;&#10;Description automatically generated">
            <a:extLst>
              <a:ext uri="{FF2B5EF4-FFF2-40B4-BE49-F238E27FC236}">
                <a16:creationId xmlns:a16="http://schemas.microsoft.com/office/drawing/2014/main" id="{FA60F0CA-05EC-A50B-D769-CEC327D86F5E}"/>
              </a:ext>
            </a:extLst>
          </p:cNvPr>
          <p:cNvPicPr>
            <a:picLocks noChangeAspect="1"/>
          </p:cNvPicPr>
          <p:nvPr/>
        </p:nvPicPr>
        <p:blipFill>
          <a:blip r:embed="rId7"/>
          <a:stretch>
            <a:fillRect/>
          </a:stretch>
        </p:blipFill>
        <p:spPr>
          <a:xfrm>
            <a:off x="11432559" y="26660171"/>
            <a:ext cx="1487212" cy="1487212"/>
          </a:xfrm>
          <a:prstGeom prst="rect">
            <a:avLst/>
          </a:prstGeom>
        </p:spPr>
      </p:pic>
      <p:pic>
        <p:nvPicPr>
          <p:cNvPr id="32" name="Picture 31" descr="A black background with white text&#10;&#10;Description automatically generated">
            <a:extLst>
              <a:ext uri="{FF2B5EF4-FFF2-40B4-BE49-F238E27FC236}">
                <a16:creationId xmlns:a16="http://schemas.microsoft.com/office/drawing/2014/main" id="{6F1B806E-658B-05E2-D9C0-1367C6BD3B19}"/>
              </a:ext>
            </a:extLst>
          </p:cNvPr>
          <p:cNvPicPr>
            <a:picLocks noChangeAspect="1"/>
          </p:cNvPicPr>
          <p:nvPr/>
        </p:nvPicPr>
        <p:blipFill>
          <a:blip r:embed="rId8"/>
          <a:stretch>
            <a:fillRect/>
          </a:stretch>
        </p:blipFill>
        <p:spPr>
          <a:xfrm>
            <a:off x="2744001" y="23724888"/>
            <a:ext cx="5766308" cy="750475"/>
          </a:xfrm>
          <a:prstGeom prst="rect">
            <a:avLst/>
          </a:prstGeom>
        </p:spPr>
      </p:pic>
      <p:pic>
        <p:nvPicPr>
          <p:cNvPr id="2058" name="Picture 10" descr="Human vs Standard vs LOSO-CV held-out line graph">
            <a:extLst>
              <a:ext uri="{FF2B5EF4-FFF2-40B4-BE49-F238E27FC236}">
                <a16:creationId xmlns:a16="http://schemas.microsoft.com/office/drawing/2014/main" id="{2D95F527-3611-0575-2479-B3DFCBB66F2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65783" y="14718965"/>
            <a:ext cx="8513181" cy="357061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42545A2D-F975-8C5A-E1C0-3A03E11DBA38}"/>
              </a:ext>
            </a:extLst>
          </p:cNvPr>
          <p:cNvPicPr>
            <a:picLocks noChangeAspect="1"/>
          </p:cNvPicPr>
          <p:nvPr/>
        </p:nvPicPr>
        <p:blipFill>
          <a:blip r:embed="rId10"/>
          <a:stretch>
            <a:fillRect/>
          </a:stretch>
        </p:blipFill>
        <p:spPr>
          <a:xfrm>
            <a:off x="11265782" y="19508126"/>
            <a:ext cx="5731928" cy="2577588"/>
          </a:xfrm>
          <a:prstGeom prst="rect">
            <a:avLst/>
          </a:prstGeom>
        </p:spPr>
      </p:pic>
      <p:sp>
        <p:nvSpPr>
          <p:cNvPr id="34" name="TextBox 33">
            <a:extLst>
              <a:ext uri="{FF2B5EF4-FFF2-40B4-BE49-F238E27FC236}">
                <a16:creationId xmlns:a16="http://schemas.microsoft.com/office/drawing/2014/main" id="{3CED7088-4178-40FB-140A-A3C56D911FFD}"/>
              </a:ext>
            </a:extLst>
          </p:cNvPr>
          <p:cNvSpPr txBox="1"/>
          <p:nvPr/>
        </p:nvSpPr>
        <p:spPr>
          <a:xfrm>
            <a:off x="13216921" y="27219111"/>
            <a:ext cx="7670800" cy="369332"/>
          </a:xfrm>
          <a:prstGeom prst="rect">
            <a:avLst/>
          </a:prstGeom>
          <a:noFill/>
        </p:spPr>
        <p:txBody>
          <a:bodyPr wrap="square" rtlCol="0">
            <a:spAutoFit/>
          </a:bodyPr>
          <a:lstStyle/>
          <a:p>
            <a:r>
              <a:rPr lang="en-US" dirty="0">
                <a:latin typeface="Bookman Old Style" panose="02050604050505020204" pitchFamily="18" charset="0"/>
              </a:rPr>
              <a:t>Scan for more Details &amp; Data</a:t>
            </a:r>
          </a:p>
        </p:txBody>
      </p:sp>
    </p:spTree>
    <p:extLst>
      <p:ext uri="{BB962C8B-B14F-4D97-AF65-F5344CB8AC3E}">
        <p14:creationId xmlns:p14="http://schemas.microsoft.com/office/powerpoint/2010/main" val="384921796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24954</TotalTime>
  <Words>634</Words>
  <Application>Microsoft Macintosh PowerPoint</Application>
  <PresentationFormat>Custom</PresentationFormat>
  <Paragraphs>47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Abadi MT Condensed Light</vt:lpstr>
      <vt:lpstr>ADLaM Display</vt:lpstr>
      <vt:lpstr>Aptos</vt:lpstr>
      <vt:lpstr>Aptos Display</vt:lpstr>
      <vt:lpstr>Arial</vt:lpstr>
      <vt:lpstr>Bookman Old Style</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Emily Kelt</dc:creator>
  <cp:lastModifiedBy>Emily Kelt</cp:lastModifiedBy>
  <cp:revision>3</cp:revision>
  <dcterms:created xsi:type="dcterms:W3CDTF">2026-04-12T14:02:55Z</dcterms:created>
  <dcterms:modified xsi:type="dcterms:W3CDTF">2026-04-29T21:57:03Z</dcterms:modified>
</cp:coreProperties>
</file>